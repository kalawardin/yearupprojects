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61" r:id="rId4"/>
    <p:sldId id="258" r:id="rId5"/>
    <p:sldId id="259" r:id="rId6"/>
    <p:sldId id="260" r:id="rId7"/>
    <p:sldId id="262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018"/>
    <p:restoredTop sz="94658"/>
  </p:normalViewPr>
  <p:slideViewPr>
    <p:cSldViewPr snapToGrid="0">
      <p:cViewPr varScale="1">
        <p:scale>
          <a:sx n="120" d="100"/>
          <a:sy n="120" d="100"/>
        </p:scale>
        <p:origin x="96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41F6F01-2DD9-2F4F-A65E-9B1D1BB84B5D}" type="datetimeFigureOut">
              <a:rPr lang="en-US" smtClean="0"/>
              <a:t>5/29/26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7C754CD-AB1C-D041-9D43-C7DD400327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15907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Today I'll walk you through a sales performance analysis for the Lana Ilana territory, covering four full years of data from January 2022 through December 2025. We'll look at revenue trends, store-level performance, customer behavior, and product category mix — and end with concrete actions the territory can take going forward.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7C754CD-AB1C-D041-9D43-C7DD400327C5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123094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Let's start with the big picture. Over the four-year window, Lana Ilana's territory generated </a:t>
            </a:r>
            <a:r>
              <a:rPr lang="en-US" b="1" dirty="0"/>
              <a:t>$3.93 million</a:t>
            </a:r>
            <a:r>
              <a:rPr lang="en-US" dirty="0"/>
              <a:t> in total revenue. The headline number is growth: revenue went from $598K in 2022 to $1.5 million in 2025 — a </a:t>
            </a:r>
            <a:r>
              <a:rPr lang="en-US" b="1" dirty="0"/>
              <a:t>150% increase</a:t>
            </a:r>
            <a:r>
              <a:rPr lang="en-US" dirty="0"/>
              <a:t>. The single best month was </a:t>
            </a:r>
            <a:r>
              <a:rPr lang="en-US" b="1" dirty="0"/>
              <a:t>October 2025 at $188K</a:t>
            </a:r>
            <a:r>
              <a:rPr lang="en-US" dirty="0"/>
              <a:t>, which is the all-time record for the territory. As you can see on the chart, the trend is clearly upward, with momentum accelerating in the most recent year.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7C754CD-AB1C-D041-9D43-C7DD400327C5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979309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Breaking it down year by year tells a more interesting story. The first big jump happened between 2022 and 2023 — a 53% increase. Then in 2024, growth essentially stalled — almost flat compared to 2023. But starting in </a:t>
            </a:r>
            <a:r>
              <a:rPr lang="en-US" b="1" dirty="0"/>
              <a:t>late 2024</a:t>
            </a:r>
            <a:r>
              <a:rPr lang="en-US" dirty="0"/>
              <a:t>, we see a sharp rise that continues through all of 2025, ending the year up another 63%. So the territory isn't growing steadily — it's growing in distinct waves. Understanding what triggered the late-2024 inflection point is critical, and I'll come back to that.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7C754CD-AB1C-D041-9D43-C7DD400327C5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845715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When we look at the 11 stores in the territory, performance is highly uneven. </a:t>
            </a:r>
            <a:r>
              <a:rPr lang="en-US" b="1" dirty="0"/>
              <a:t>Just two stores — 724 in Miami and 728 in Tallahassee — account for 30% of total territory revenue.</a:t>
            </a:r>
            <a:r>
              <a:rPr lang="en-US" dirty="0"/>
              <a:t> Store 724 alone brought in $619K, and store 728 brought in $542K. Both are in Florida. The remaining nine stores cluster much closer together. This concentration is both an opportunity and a risk.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7C754CD-AB1C-D041-9D43-C7DD400327C5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702604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 the customer side, the rewards program reveals a clear pattern. The </a:t>
            </a:r>
            <a:r>
              <a:rPr lang="en-US" b="1" dirty="0"/>
              <a:t>top 5 rewards customers spend 5 times more</a:t>
            </a:r>
            <a:r>
              <a:rPr lang="en-US" dirty="0"/>
              <a:t> than the average rewards member — about $4,200 each, versus $844 for the average member. But here's the catch: </a:t>
            </a:r>
            <a:r>
              <a:rPr lang="en-US" b="1" dirty="0"/>
              <a:t>only 10.6% of all transactions</a:t>
            </a:r>
            <a:r>
              <a:rPr lang="en-US" dirty="0"/>
              <a:t> come from rewards members at all. That means we have very limited visibility into the other ~89% of our customer base, and there's significant room to grow the program.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7C754CD-AB1C-D041-9D43-C7DD400327C5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303267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Looking at what we actually sell, the product mix is heavily skewed. </a:t>
            </a:r>
            <a:r>
              <a:rPr lang="en-US" b="1" dirty="0"/>
              <a:t>88% of revenue comes from just two categories: Technology &amp; Accessories at 62.7%, and Textbooks at 25.2%.</a:t>
            </a:r>
            <a:r>
              <a:rPr lang="en-US" dirty="0"/>
              <a:t> The other three categories — art supplies, apparel, and stationery — together make up only 12%. So while Technology is driving the growth we saw earlier, the territory is also heavily dependent on it. A change in tech demand could hit hard.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7C754CD-AB1C-D041-9D43-C7DD400327C5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698582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 what should the territory do with these findings? Four actions:</a:t>
            </a:r>
          </a:p>
          <a:p>
            <a:r>
              <a:rPr lang="en-US" b="1" dirty="0"/>
              <a:t>First</a:t>
            </a:r>
            <a:r>
              <a:rPr lang="en-US" dirty="0"/>
              <a:t>, replicate the Florida success model. Stores 724 and 728 are clearly doing something right — we should study their customer profile, product mix, and operations and apply those lessons to the other nine stores.</a:t>
            </a:r>
          </a:p>
          <a:p>
            <a:r>
              <a:rPr lang="en-US" b="1" dirty="0"/>
              <a:t>Second</a:t>
            </a:r>
            <a:r>
              <a:rPr lang="en-US" dirty="0"/>
              <a:t>, expand the rewards program. With only 10.6% participation, even modest sign-up incentives at checkout could meaningfully grow it.</a:t>
            </a:r>
          </a:p>
          <a:p>
            <a:r>
              <a:rPr lang="en-US" b="1" dirty="0"/>
              <a:t>Third</a:t>
            </a:r>
            <a:r>
              <a:rPr lang="en-US" dirty="0"/>
              <a:t>, diversify the category portfolio. Being 88% dependent on two categories is risky — cross-sell campaigns in art supplies and apparel can build a buffer.</a:t>
            </a:r>
          </a:p>
          <a:p>
            <a:r>
              <a:rPr lang="en-US" b="1" dirty="0"/>
              <a:t>And fourth</a:t>
            </a:r>
            <a:r>
              <a:rPr lang="en-US" dirty="0"/>
              <a:t>, analyze what drove the late-2024 momentum. If we can identify the trigger — whether it was a new product, a price change, or a campaign — we can repeat it and secure 2026 growth.</a:t>
            </a:r>
          </a:p>
          <a:p>
            <a:r>
              <a:rPr lang="en-US" dirty="0"/>
              <a:t>Thank you — happy to take questions.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7C754CD-AB1C-D041-9D43-C7DD400327C5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82228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6BC7B8-8165-22D4-AE1E-77A6A805EB4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54775B7-E716-0151-27AC-DAF55E613D7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CD704A-9BED-1C66-B292-72A992096C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21D6BF-BB2C-2144-89D8-3B9FE0DB500A}" type="datetimeFigureOut">
              <a:rPr lang="en-US" smtClean="0"/>
              <a:t>5/29/26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EE9AB1A-37E9-6F2B-8D56-842A64744F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3B79FF-1512-7FB6-849B-B1359BC6DA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71F8D2-FA3E-AF42-A60B-40679A016C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20493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A7A6AA-9DD0-CB16-6F4D-665A9EFE8D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77BEE1-6CCA-7BA5-6CC1-6DBFFDD2BD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0D4D1A-FFE8-5F3D-088C-264AFB5091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21D6BF-BB2C-2144-89D8-3B9FE0DB500A}" type="datetimeFigureOut">
              <a:rPr lang="en-US" smtClean="0"/>
              <a:t>5/29/26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685C33-D133-D972-1AEC-652D13E601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DE4F00-D3F9-C836-A7FB-0B85B14540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71F8D2-FA3E-AF42-A60B-40679A016C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82269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334E50-7A7B-9B70-6D35-7D5B72F72F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7ECCAFF-A798-DAE9-FE89-1F1CF456E2B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1B501ED-CAB1-BBFC-A40D-8C14648572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21D6BF-BB2C-2144-89D8-3B9FE0DB500A}" type="datetimeFigureOut">
              <a:rPr lang="en-US" smtClean="0"/>
              <a:t>5/29/26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E82FE7-1AE3-91B1-1CE9-98BF8B7700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20A2B7B-ABE9-1333-00F2-623F68C65F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71F8D2-FA3E-AF42-A60B-40679A016C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396168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A78E61-E8AE-1FA9-D831-9D048093B8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55A378-1778-6777-EBC1-6DAD81A092F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5BDAFDE-9394-DBE0-AA52-60243DC715A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7A60DBD-7257-38C2-7EA1-93891C3DA9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21D6BF-BB2C-2144-89D8-3B9FE0DB500A}" type="datetimeFigureOut">
              <a:rPr lang="en-US" smtClean="0"/>
              <a:t>5/29/26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BD82806-5D7F-5780-E86D-FDEF65B697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4A37EC3-71FB-07FA-6D55-9EA2DBD52E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71F8D2-FA3E-AF42-A60B-40679A016C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923201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3E2088-063B-8DFD-2535-66AB9FAB35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611B54B-2A69-C3C1-0267-C6DDD9BB28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4B4B00B-3A32-1D2E-F3A6-E7637C01CC5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9A0117D-6159-DFE3-CE45-E8DE958378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1B7AFE7-3FAD-C5D8-AEE5-26480501B66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8983545-041B-D16D-C769-6A98726F14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21D6BF-BB2C-2144-89D8-3B9FE0DB500A}" type="datetimeFigureOut">
              <a:rPr lang="en-US" smtClean="0"/>
              <a:t>5/29/26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3B34387-6587-86EF-FC22-2396067F61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E05554C-27F0-B773-8E92-3420F1E024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71F8D2-FA3E-AF42-A60B-40679A016C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98258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6B8D86-77D8-456E-D342-94192B8349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4A49532-C435-294E-F753-50D6F1A4FC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21D6BF-BB2C-2144-89D8-3B9FE0DB500A}" type="datetimeFigureOut">
              <a:rPr lang="en-US" smtClean="0"/>
              <a:t>5/29/26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9B54D01-3D77-8466-8A41-24B4DBC2B4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676E0F6-68F9-B5A2-2AAF-CF92776D8F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71F8D2-FA3E-AF42-A60B-40679A016C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70188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11B8BFB-91AE-102D-1880-05302EAE64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21D6BF-BB2C-2144-89D8-3B9FE0DB500A}" type="datetimeFigureOut">
              <a:rPr lang="en-US" smtClean="0"/>
              <a:t>5/29/26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633883B-64D4-B402-8D73-C57E42C0D2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CFF6D16-1CD3-2BFF-439E-66422FD8C7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71F8D2-FA3E-AF42-A60B-40679A016C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71267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9EF897-1C01-0099-BE2E-0FB1CCC86D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F3200C-68BA-0FA4-4776-2FD2F62080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8A120A0-772A-A393-3414-8C7C76DC99C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F744463-64FA-F847-50D8-C466D8FAEE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21D6BF-BB2C-2144-89D8-3B9FE0DB500A}" type="datetimeFigureOut">
              <a:rPr lang="en-US" smtClean="0"/>
              <a:t>5/29/26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F3FCF6F-DDA0-C35B-10CE-00F4159C03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CF31485-0ADB-15C7-B000-932F58CF42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71F8D2-FA3E-AF42-A60B-40679A016C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90068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D41256-BC82-1793-9B4E-8E7E662706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64E2B02-5B3E-4465-994C-9F8779D9B1B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7521A49-1105-AFFB-356B-C0752A838C4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66FC453-758C-BB75-FCC9-1F8139FBC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21D6BF-BB2C-2144-89D8-3B9FE0DB500A}" type="datetimeFigureOut">
              <a:rPr lang="en-US" smtClean="0"/>
              <a:t>5/29/26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F629511-17C6-C184-D32C-F73848479D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13CBDCC-7EBB-37CD-0D74-F161F39B9B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71F8D2-FA3E-AF42-A60B-40679A016C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95988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EAFFE5-4F26-CA42-78C8-E78B99EF8C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0083961-854E-0066-BC2D-8E3E92FEBE2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D98F687-2020-8876-42E8-BB61C6B93A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21D6BF-BB2C-2144-89D8-3B9FE0DB500A}" type="datetimeFigureOut">
              <a:rPr lang="en-US" smtClean="0"/>
              <a:t>5/29/26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E2AE031-079F-AB4F-67F5-7957F87E08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DD9FE19-338B-428C-2BDD-742489659C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71F8D2-FA3E-AF42-A60B-40679A016C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574943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8CE6E2B-33E8-EA2C-BF74-F1A17C3EC5A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04B98BA-AD19-5F67-FBB3-761E6DBAD44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8F5F378-779A-100F-5C89-8DA94DB6D0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21D6BF-BB2C-2144-89D8-3B9FE0DB500A}" type="datetimeFigureOut">
              <a:rPr lang="en-US" smtClean="0"/>
              <a:t>5/29/26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FE77C30-93EA-086D-F2F5-61327991BF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E04B8D-018B-61C4-54AF-FD5385385E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71F8D2-FA3E-AF42-A60B-40679A016C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32548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4D10787-1A4C-660D-164F-BDEC2F64AC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6F086D-0E0B-108E-0512-BA2D984F2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8FE1EEF-3046-3F5A-ECE9-8464A59CF5F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121D6BF-BB2C-2144-89D8-3B9FE0DB500A}" type="datetimeFigureOut">
              <a:rPr lang="en-US" smtClean="0"/>
              <a:t>5/29/26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D0A914-5854-6502-BD0D-B870E4EE401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7245D0-61F2-B792-CA93-DAF30F4867E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871F8D2-FA3E-AF42-A60B-40679A016C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7240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7F1FA0-B6AD-D654-8386-D3AFC8577CD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Lana Ilana Territory</a:t>
            </a:r>
            <a:br>
              <a:rPr lang="en-US" b="1" dirty="0"/>
            </a:br>
            <a:r>
              <a:rPr lang="en-US" b="1" dirty="0"/>
              <a:t>Sales Performance Analysis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F72DF18-2D19-B8A3-FDBB-7A8EFD6FE47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January 2022 – December 2025  |  4-Year Revenue, Store and Customer Review</a:t>
            </a:r>
          </a:p>
        </p:txBody>
      </p:sp>
    </p:spTree>
    <p:extLst>
      <p:ext uri="{BB962C8B-B14F-4D97-AF65-F5344CB8AC3E}">
        <p14:creationId xmlns:p14="http://schemas.microsoft.com/office/powerpoint/2010/main" val="33110614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856FC5-1586-699F-6F6B-A94B1A7BD4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6693" y="741391"/>
            <a:ext cx="3455821" cy="1616203"/>
          </a:xfrm>
        </p:spPr>
        <p:txBody>
          <a:bodyPr anchor="b">
            <a:normAutofit/>
          </a:bodyPr>
          <a:lstStyle/>
          <a:p>
            <a:pPr algn="ctr"/>
            <a:r>
              <a:rPr lang="en-US" sz="3200" dirty="0"/>
              <a:t>2022/01 – 2025/12</a:t>
            </a:r>
            <a:br>
              <a:rPr lang="en-US" sz="3200" dirty="0"/>
            </a:br>
            <a:r>
              <a:rPr lang="en-US" sz="3200" dirty="0"/>
              <a:t>Total Revenue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F6D7975D-08FF-BFDE-2E4E-BC38FC19B5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76693" y="2533476"/>
            <a:ext cx="3455821" cy="3447832"/>
          </a:xfrm>
        </p:spPr>
        <p:txBody>
          <a:bodyPr anchor="t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chemeClr val="tx2"/>
                </a:solidFill>
              </a:rPr>
              <a:t>Overview</a:t>
            </a:r>
          </a:p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$3.93M</a:t>
            </a:r>
          </a:p>
          <a:p>
            <a:pPr marL="0" indent="0">
              <a:buNone/>
            </a:pPr>
            <a:r>
              <a:rPr lang="en-US" sz="1200" dirty="0">
                <a:solidFill>
                  <a:schemeClr val="tx2"/>
                </a:solidFill>
              </a:rPr>
              <a:t>total revenue over 4 years</a:t>
            </a:r>
          </a:p>
          <a:p>
            <a:pPr marL="0" indent="0">
              <a:buNone/>
            </a:pPr>
            <a:endParaRPr lang="en-US" sz="800"/>
          </a:p>
          <a:p>
            <a:pPr marL="0" indent="0">
              <a:buNone/>
            </a:pPr>
            <a:r>
              <a:rPr lang="en-US" sz="1600" b="1" dirty="0"/>
              <a:t>+150% growth</a:t>
            </a:r>
          </a:p>
          <a:p>
            <a:pPr marL="0" indent="0">
              <a:buNone/>
            </a:pPr>
            <a:r>
              <a:rPr lang="en-US" sz="1200" dirty="0">
                <a:solidFill>
                  <a:schemeClr val="tx2"/>
                </a:solidFill>
              </a:rPr>
              <a:t>2022: $598K  →  2025: $1.50M</a:t>
            </a:r>
          </a:p>
          <a:p>
            <a:pPr marL="0" indent="0">
              <a:buNone/>
            </a:pPr>
            <a:endParaRPr lang="en-US" sz="800"/>
          </a:p>
          <a:p>
            <a:pPr marL="0" indent="0">
              <a:buNone/>
            </a:pPr>
            <a:r>
              <a:rPr lang="en-US" sz="1600" b="1" dirty="0"/>
              <a:t>Peak: October 2025</a:t>
            </a:r>
          </a:p>
          <a:p>
            <a:pPr marL="0" indent="0">
              <a:buNone/>
            </a:pPr>
            <a:r>
              <a:rPr lang="en-US" sz="1200" dirty="0">
                <a:solidFill>
                  <a:schemeClr val="tx2"/>
                </a:solidFill>
              </a:rPr>
              <a:t>$188K in a single month — all-time record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F43E4141-D555-8472-E6FF-BBFBF78F55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50407" y="1248025"/>
            <a:ext cx="7300337" cy="4361950"/>
          </a:xfrm>
          <a:prstGeom prst="rect">
            <a:avLst/>
          </a:prstGeom>
        </p:spPr>
      </p:pic>
      <p:grpSp>
        <p:nvGrpSpPr>
          <p:cNvPr id="11" name="Group 10">
            <a:extLst>
              <a:ext uri="{FF2B5EF4-FFF2-40B4-BE49-F238E27FC236}">
                <a16:creationId xmlns:a16="http://schemas.microsoft.com/office/drawing/2014/main" id="{6258F736-B256-8039-9DC6-F4E49A5C5A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12068638" y="0"/>
            <a:ext cx="123362" cy="6858000"/>
            <a:chOff x="12068638" y="0"/>
            <a:chExt cx="123362" cy="6858000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10B4520A-996E-330C-99DA-69CA4D89E90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2068638" y="0"/>
              <a:ext cx="123362" cy="6858000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5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EC8FA945-E356-695F-18D6-CAD4EF34FE4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2068638" y="3527553"/>
              <a:ext cx="123362" cy="3330447"/>
            </a:xfrm>
            <a:prstGeom prst="rect">
              <a:avLst/>
            </a:prstGeom>
            <a:gradFill>
              <a:gsLst>
                <a:gs pos="19000">
                  <a:schemeClr val="accent5">
                    <a:lumMod val="60000"/>
                    <a:lumOff val="40000"/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63613838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A5C9F5-D876-5EA5-23D7-8630620A69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10285" y="741391"/>
            <a:ext cx="3443514" cy="1616203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3200" b="1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Yearly Growth Momentum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42445DE-A5B2-C73C-A574-292F6E9C7B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7114" y="1466877"/>
            <a:ext cx="6449549" cy="3853604"/>
          </a:xfrm>
          <a:prstGeom prst="rect">
            <a:avLst/>
          </a:prstGeom>
        </p:spPr>
      </p:pic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BAC2F68-C817-D6C3-409B-A870DACA5D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10285" y="2533476"/>
            <a:ext cx="3443514" cy="3447832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sz="1500" b="1" dirty="0"/>
              <a:t>Annual Revenue</a:t>
            </a:r>
          </a:p>
          <a:p>
            <a:pPr marL="0" indent="0">
              <a:buNone/>
            </a:pPr>
            <a:r>
              <a:rPr lang="en-US" sz="1500" b="1" dirty="0"/>
              <a:t>2022</a:t>
            </a:r>
            <a:r>
              <a:rPr lang="en-US" sz="1500" dirty="0"/>
              <a:t>     $598K</a:t>
            </a:r>
          </a:p>
          <a:p>
            <a:pPr marL="0" indent="0">
              <a:buNone/>
            </a:pPr>
            <a:r>
              <a:rPr lang="en-US" sz="1500" b="1" dirty="0"/>
              <a:t>2023</a:t>
            </a:r>
            <a:r>
              <a:rPr lang="en-US" sz="1500" dirty="0"/>
              <a:t>     $917K   </a:t>
            </a:r>
            <a:r>
              <a:rPr lang="en-US" sz="1500" b="1" dirty="0"/>
              <a:t>+%53</a:t>
            </a:r>
          </a:p>
          <a:p>
            <a:pPr marL="0" indent="0">
              <a:buNone/>
            </a:pPr>
            <a:r>
              <a:rPr lang="en-US" sz="1500" b="1" dirty="0"/>
              <a:t>2024</a:t>
            </a:r>
            <a:r>
              <a:rPr lang="en-US" sz="1500" dirty="0"/>
              <a:t>     $920K   </a:t>
            </a:r>
            <a:r>
              <a:rPr lang="en-US" sz="1500" b="1" dirty="0"/>
              <a:t>+%0</a:t>
            </a:r>
          </a:p>
          <a:p>
            <a:pPr marL="342900" indent="-342900">
              <a:buAutoNum type="arabicPlain" startAt="2025"/>
            </a:pPr>
            <a:r>
              <a:rPr lang="en-US" sz="1500" dirty="0"/>
              <a:t>     $1.50M   </a:t>
            </a:r>
            <a:r>
              <a:rPr lang="en-US" sz="1500" b="1" dirty="0"/>
              <a:t>+%63</a:t>
            </a:r>
          </a:p>
          <a:p>
            <a:pPr marL="0" indent="0">
              <a:buNone/>
            </a:pPr>
            <a:endParaRPr lang="en-US" sz="1500" dirty="0"/>
          </a:p>
          <a:p>
            <a:pPr marL="0" indent="0">
              <a:buNone/>
            </a:pPr>
            <a:r>
              <a:rPr lang="en-US" sz="1500" b="1" dirty="0"/>
              <a:t>Highlights</a:t>
            </a:r>
            <a:endParaRPr lang="en-US" sz="1500" dirty="0"/>
          </a:p>
          <a:p>
            <a:pPr marL="0" indent="0">
              <a:buNone/>
            </a:pPr>
            <a:r>
              <a:rPr lang="en-US" sz="1500" dirty="0"/>
              <a:t>First major jump between 2022–2023</a:t>
            </a:r>
          </a:p>
          <a:p>
            <a:pPr marL="0" indent="0">
              <a:buNone/>
            </a:pPr>
            <a:r>
              <a:rPr lang="en-US" sz="1500" dirty="0"/>
              <a:t>Plateau in 2024 — growth stalled</a:t>
            </a:r>
          </a:p>
          <a:p>
            <a:pPr marL="0" indent="0">
              <a:buNone/>
            </a:pPr>
            <a:r>
              <a:rPr lang="en-US" sz="1500" dirty="0"/>
              <a:t>Sharp rise from November 2024</a:t>
            </a:r>
          </a:p>
        </p:txBody>
      </p:sp>
      <p:grpSp>
        <p:nvGrpSpPr>
          <p:cNvPr id="105" name="Group 104">
            <a:extLst>
              <a:ext uri="{FF2B5EF4-FFF2-40B4-BE49-F238E27FC236}">
                <a16:creationId xmlns:a16="http://schemas.microsoft.com/office/drawing/2014/main" id="{31C49F18-8757-4E87-5C2E-9D6D7B82BA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5025" y="6737718"/>
            <a:ext cx="12207200" cy="123363"/>
            <a:chOff x="-5025" y="6737718"/>
            <a:chExt cx="12207200" cy="123363"/>
          </a:xfrm>
        </p:grpSpPr>
        <p:sp>
          <p:nvSpPr>
            <p:cNvPr id="106" name="Rectangle 105">
              <a:extLst>
                <a:ext uri="{FF2B5EF4-FFF2-40B4-BE49-F238E27FC236}">
                  <a16:creationId xmlns:a16="http://schemas.microsoft.com/office/drawing/2014/main" id="{25C84D91-E5BF-B919-ACEF-4A25262CEE7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 flipH="1">
              <a:off x="6036894" y="695800"/>
              <a:ext cx="123362" cy="12207199"/>
            </a:xfrm>
            <a:prstGeom prst="rect">
              <a:avLst/>
            </a:prstGeom>
            <a:gradFill>
              <a:gsLst>
                <a:gs pos="0">
                  <a:schemeClr val="accent5"/>
                </a:gs>
                <a:gs pos="100000">
                  <a:schemeClr val="accent2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7" name="Rectangle 106">
              <a:extLst>
                <a:ext uri="{FF2B5EF4-FFF2-40B4-BE49-F238E27FC236}">
                  <a16:creationId xmlns:a16="http://schemas.microsoft.com/office/drawing/2014/main" id="{DD889E38-27CA-E23F-B646-8D7B4BB17DB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9176406" y="3835311"/>
              <a:ext cx="123362" cy="5928176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41347381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B60437-41FF-2E2D-5E30-747152639F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10283" y="741391"/>
            <a:ext cx="3397017" cy="1616203"/>
          </a:xfrm>
        </p:spPr>
        <p:txBody>
          <a:bodyPr anchor="b">
            <a:normAutofit/>
          </a:bodyPr>
          <a:lstStyle/>
          <a:p>
            <a:r>
              <a:rPr lang="en-US" sz="2800" b="1" dirty="0"/>
              <a:t>Store Comparison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76483C60-8087-2D02-E7CF-293DE9CE78C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0211" r="13881" b="1"/>
          <a:stretch>
            <a:fillRect/>
          </a:stretch>
        </p:blipFill>
        <p:spPr>
          <a:xfrm>
            <a:off x="884698" y="877413"/>
            <a:ext cx="6406903" cy="5043096"/>
          </a:xfrm>
          <a:prstGeom prst="rect">
            <a:avLst/>
          </a:prstGeom>
        </p:spPr>
      </p:pic>
      <p:grpSp>
        <p:nvGrpSpPr>
          <p:cNvPr id="15" name="Group 14">
            <a:extLst>
              <a:ext uri="{FF2B5EF4-FFF2-40B4-BE49-F238E27FC236}">
                <a16:creationId xmlns:a16="http://schemas.microsoft.com/office/drawing/2014/main" id="{BE589684-54CA-64D8-C963-5F19FF75BF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884697" y="5858828"/>
            <a:ext cx="6406903" cy="123363"/>
            <a:chOff x="7015162" y="5858828"/>
            <a:chExt cx="4300544" cy="123363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9B56B8E8-B789-DA4D-E4BE-03FA3165B3D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9103753" y="3770237"/>
              <a:ext cx="123362" cy="4300544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5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2255D907-377D-0DF9-B4A4-4B44C46FBE3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10209789" y="4876274"/>
              <a:ext cx="123362" cy="2088471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7" name="Content Placeholder 7">
            <a:extLst>
              <a:ext uri="{FF2B5EF4-FFF2-40B4-BE49-F238E27FC236}">
                <a16:creationId xmlns:a16="http://schemas.microsoft.com/office/drawing/2014/main" id="{9EE9C144-8E84-E3EF-AFBF-7ADAEB86CB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10284" y="2533476"/>
            <a:ext cx="3405415" cy="3447832"/>
          </a:xfrm>
        </p:spPr>
        <p:txBody>
          <a:bodyPr anchor="t">
            <a:normAutofit/>
          </a:bodyPr>
          <a:lstStyle/>
          <a:p>
            <a:pPr marL="0" indent="0">
              <a:buNone/>
            </a:pPr>
            <a:r>
              <a:rPr lang="en-US" sz="2400" b="1" dirty="0"/>
              <a:t>30%</a:t>
            </a:r>
          </a:p>
          <a:p>
            <a:pPr marL="0" indent="0">
              <a:buNone/>
            </a:pPr>
            <a:r>
              <a:rPr lang="en-US" sz="1100" dirty="0">
                <a:solidFill>
                  <a:schemeClr val="tx2"/>
                </a:solidFill>
              </a:rPr>
              <a:t>of territory revenue comes from only 2 stores</a:t>
            </a:r>
          </a:p>
          <a:p>
            <a:pPr marL="0" indent="0">
              <a:buNone/>
            </a:pPr>
            <a:endParaRPr lang="en-US" sz="800"/>
          </a:p>
          <a:p>
            <a:pPr marL="0" indent="0">
              <a:buNone/>
            </a:pPr>
            <a:r>
              <a:rPr lang="en-US" sz="1400" b="1" dirty="0"/>
              <a:t>#1  Store 724</a:t>
            </a:r>
          </a:p>
          <a:p>
            <a:pPr marL="0" indent="0">
              <a:buNone/>
            </a:pPr>
            <a:r>
              <a:rPr lang="en-US" sz="1100" dirty="0">
                <a:solidFill>
                  <a:schemeClr val="tx2"/>
                </a:solidFill>
              </a:rPr>
              <a:t>Miami, FL  —  $619K</a:t>
            </a:r>
          </a:p>
          <a:p>
            <a:pPr marL="0" indent="0">
              <a:buNone/>
            </a:pPr>
            <a:endParaRPr lang="en-US" sz="400"/>
          </a:p>
          <a:p>
            <a:pPr marL="0" indent="0">
              <a:buNone/>
            </a:pPr>
            <a:r>
              <a:rPr lang="en-US" sz="1400" b="1" dirty="0"/>
              <a:t>#2  Store 728</a:t>
            </a:r>
          </a:p>
          <a:p>
            <a:pPr marL="0" indent="0">
              <a:buNone/>
            </a:pPr>
            <a:r>
              <a:rPr lang="en-US" sz="1100" dirty="0">
                <a:solidFill>
                  <a:schemeClr val="tx2"/>
                </a:solidFill>
              </a:rPr>
              <a:t>Tallahassee, FL  —  $542K</a:t>
            </a:r>
          </a:p>
          <a:p>
            <a:pPr marL="0" indent="0">
              <a:buNone/>
            </a:pPr>
            <a:endParaRPr lang="en-US" sz="800"/>
          </a:p>
          <a:p>
            <a:pPr marL="0" indent="0">
              <a:buNone/>
            </a:pPr>
            <a:r>
              <a:rPr lang="en-US" sz="1100" i="1" dirty="0">
                <a:solidFill>
                  <a:schemeClr val="tx2"/>
                </a:solidFill>
              </a:rPr>
              <a:t>Florida stores outperform the other 9 locations.</a:t>
            </a:r>
          </a:p>
        </p:txBody>
      </p:sp>
    </p:spTree>
    <p:extLst>
      <p:ext uri="{BB962C8B-B14F-4D97-AF65-F5344CB8AC3E}">
        <p14:creationId xmlns:p14="http://schemas.microsoft.com/office/powerpoint/2010/main" val="36686143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8B5A54-76CD-9E50-BB6B-8D3A40F3EA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6694" y="741391"/>
            <a:ext cx="3549649" cy="1616203"/>
          </a:xfrm>
        </p:spPr>
        <p:txBody>
          <a:bodyPr anchor="b">
            <a:normAutofit/>
          </a:bodyPr>
          <a:lstStyle/>
          <a:p>
            <a:r>
              <a:rPr lang="en-US" sz="2800" b="1" dirty="0"/>
              <a:t>Top Customers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98D841CC-D513-7707-D22E-C5F6FE2BE0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76693" y="2533476"/>
            <a:ext cx="3346964" cy="3447832"/>
          </a:xfrm>
        </p:spPr>
        <p:txBody>
          <a:bodyPr anchor="t">
            <a:normAutofit/>
          </a:bodyPr>
          <a:lstStyle/>
          <a:p>
            <a:pPr marL="0" indent="0">
              <a:buNone/>
            </a:pPr>
            <a:r>
              <a:rPr lang="en-US" sz="2800" b="1" dirty="0"/>
              <a:t>5x</a:t>
            </a:r>
          </a:p>
          <a:p>
            <a:pPr marL="0" indent="0">
              <a:buNone/>
            </a:pPr>
            <a:r>
              <a:rPr lang="en-US" sz="1100" dirty="0">
                <a:solidFill>
                  <a:schemeClr val="tx2"/>
                </a:solidFill>
              </a:rPr>
              <a:t>Top 5 customers spend 5x more than the average rewards customer</a:t>
            </a:r>
          </a:p>
          <a:p>
            <a:pPr marL="0" indent="0">
              <a:buNone/>
            </a:pPr>
            <a:endParaRPr lang="en-US" sz="800"/>
          </a:p>
          <a:p>
            <a:pPr marL="0" indent="0">
              <a:buNone/>
            </a:pPr>
            <a:r>
              <a:rPr lang="en-US" sz="1400" b="1" dirty="0"/>
              <a:t>$4,217</a:t>
            </a:r>
            <a:r>
              <a:rPr lang="en-US" sz="1100" dirty="0">
                <a:solidFill>
                  <a:schemeClr val="tx2"/>
                </a:solidFill>
              </a:rPr>
              <a:t>   avg. spend of top 5</a:t>
            </a:r>
          </a:p>
          <a:p>
            <a:pPr marL="0" indent="0">
              <a:buNone/>
            </a:pPr>
            <a:r>
              <a:rPr lang="en-US" sz="1400" b="1" dirty="0"/>
              <a:t>$844</a:t>
            </a:r>
            <a:r>
              <a:rPr lang="en-US" sz="1100" dirty="0">
                <a:solidFill>
                  <a:schemeClr val="tx2"/>
                </a:solidFill>
              </a:rPr>
              <a:t>     overall rewards customer average</a:t>
            </a:r>
          </a:p>
          <a:p>
            <a:pPr marL="0" indent="0">
              <a:buNone/>
            </a:pPr>
            <a:endParaRPr lang="en-US" sz="800"/>
          </a:p>
          <a:p>
            <a:pPr marL="0" indent="0">
              <a:buNone/>
            </a:pPr>
            <a:r>
              <a:rPr lang="en-US" sz="1400" b="1" dirty="0"/>
              <a:t>10.6%</a:t>
            </a:r>
          </a:p>
          <a:p>
            <a:pPr marL="0" indent="0">
              <a:buNone/>
            </a:pPr>
            <a:r>
              <a:rPr lang="en-US" sz="1100" dirty="0">
                <a:solidFill>
                  <a:schemeClr val="tx2"/>
                </a:solidFill>
              </a:rPr>
              <a:t>of transactions use the rewards program — major growth potential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9F06A001-E085-E0C3-025A-66780F2DBD4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3770" r="12506" b="1"/>
          <a:stretch>
            <a:fillRect/>
          </a:stretch>
        </p:blipFill>
        <p:spPr>
          <a:xfrm>
            <a:off x="5089243" y="877413"/>
            <a:ext cx="6222628" cy="5043096"/>
          </a:xfrm>
          <a:prstGeom prst="rect">
            <a:avLst/>
          </a:prstGeom>
        </p:spPr>
      </p:pic>
      <p:grpSp>
        <p:nvGrpSpPr>
          <p:cNvPr id="11" name="Group 10">
            <a:extLst>
              <a:ext uri="{FF2B5EF4-FFF2-40B4-BE49-F238E27FC236}">
                <a16:creationId xmlns:a16="http://schemas.microsoft.com/office/drawing/2014/main" id="{3AFCAD34-1AFC-BC1A-F6B2-C34C63912E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5089243" y="5858828"/>
            <a:ext cx="6226463" cy="123363"/>
            <a:chOff x="7015162" y="5858828"/>
            <a:chExt cx="4300544" cy="123363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1129F4A2-3705-CF87-3DDA-AF9CE9389B9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9103753" y="3770237"/>
              <a:ext cx="123362" cy="4300544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5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891B1028-FC76-5583-3A1F-5815A7DCF9D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10209789" y="4876274"/>
              <a:ext cx="123362" cy="2088471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62745637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679214-E876-FF98-175F-F1383EB6C8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10285" y="741391"/>
            <a:ext cx="3443514" cy="1616203"/>
          </a:xfrm>
        </p:spPr>
        <p:txBody>
          <a:bodyPr anchor="b">
            <a:normAutofit/>
          </a:bodyPr>
          <a:lstStyle/>
          <a:p>
            <a:r>
              <a:rPr lang="en-US" sz="2800" b="1" dirty="0"/>
              <a:t>Category Breakdown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4BC0A21A-F0CC-F4B0-AD98-26A63A1998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0390" y="319861"/>
            <a:ext cx="6794339" cy="6441601"/>
          </a:xfrm>
          <a:prstGeom prst="rect">
            <a:avLst/>
          </a:prstGeom>
        </p:spPr>
      </p:pic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230F26B1-EDBB-3880-5DCC-AA743C3061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10285" y="2533476"/>
            <a:ext cx="3443514" cy="3447832"/>
          </a:xfrm>
        </p:spPr>
        <p:txBody>
          <a:bodyPr anchor="t">
            <a:normAutofit/>
          </a:bodyPr>
          <a:lstStyle/>
          <a:p>
            <a:pPr marL="0" indent="0">
              <a:buNone/>
            </a:pPr>
            <a:r>
              <a:rPr lang="en-US" sz="2800" b="1" dirty="0"/>
              <a:t>88%</a:t>
            </a:r>
          </a:p>
          <a:p>
            <a:pPr marL="0" indent="0">
              <a:buNone/>
            </a:pPr>
            <a:r>
              <a:rPr lang="en-US" sz="1100" dirty="0">
                <a:solidFill>
                  <a:schemeClr val="tx2"/>
                </a:solidFill>
              </a:rPr>
              <a:t>of revenue comes only from Technology and Textbooks</a:t>
            </a:r>
          </a:p>
          <a:p>
            <a:pPr marL="0" indent="0">
              <a:buNone/>
            </a:pPr>
            <a:endParaRPr lang="en-US" sz="800"/>
          </a:p>
          <a:p>
            <a:pPr marL="0" indent="0">
              <a:buNone/>
            </a:pPr>
            <a:r>
              <a:rPr lang="en-US" sz="1300" b="1" dirty="0"/>
              <a:t>Technology &amp; Accessories</a:t>
            </a:r>
          </a:p>
          <a:p>
            <a:pPr marL="0" indent="0">
              <a:buNone/>
            </a:pPr>
            <a:r>
              <a:rPr lang="en-US" sz="1100" dirty="0">
                <a:solidFill>
                  <a:schemeClr val="tx2"/>
                </a:solidFill>
              </a:rPr>
              <a:t>62.7% — dominant category</a:t>
            </a:r>
          </a:p>
          <a:p>
            <a:pPr marL="0" indent="0">
              <a:buNone/>
            </a:pPr>
            <a:endParaRPr lang="en-US" sz="400"/>
          </a:p>
          <a:p>
            <a:pPr marL="0" indent="0">
              <a:buNone/>
            </a:pPr>
            <a:r>
              <a:rPr lang="en-US" sz="1300" b="1" dirty="0"/>
              <a:t>Textbooks</a:t>
            </a:r>
          </a:p>
          <a:p>
            <a:pPr marL="0" indent="0">
              <a:buNone/>
            </a:pPr>
            <a:r>
              <a:rPr lang="en-US" sz="1100" dirty="0">
                <a:solidFill>
                  <a:schemeClr val="tx2"/>
                </a:solidFill>
              </a:rPr>
              <a:t>25.2% — second largest share</a:t>
            </a:r>
          </a:p>
          <a:p>
            <a:pPr marL="0" indent="0">
              <a:buNone/>
            </a:pPr>
            <a:endParaRPr lang="en-US" sz="600"/>
          </a:p>
          <a:p>
            <a:pPr marL="0" indent="0">
              <a:buNone/>
            </a:pPr>
            <a:r>
              <a:rPr lang="en-US" sz="1100" i="1" dirty="0">
                <a:solidFill>
                  <a:schemeClr val="tx2"/>
                </a:solidFill>
              </a:rPr>
              <a:t>Other 3 categories together only 12% — portfolio is too narrow.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31C49F18-8757-4E87-5C2E-9D6D7B82BA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5025" y="6737718"/>
            <a:ext cx="12207200" cy="123363"/>
            <a:chOff x="-5025" y="6737718"/>
            <a:chExt cx="12207200" cy="123363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25C84D91-E5BF-B919-ACEF-4A25262CEE7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 flipH="1">
              <a:off x="6036894" y="695800"/>
              <a:ext cx="123362" cy="12207199"/>
            </a:xfrm>
            <a:prstGeom prst="rect">
              <a:avLst/>
            </a:prstGeom>
            <a:gradFill>
              <a:gsLst>
                <a:gs pos="0">
                  <a:schemeClr val="accent5"/>
                </a:gs>
                <a:gs pos="100000">
                  <a:schemeClr val="accent2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DD889E38-27CA-E23F-B646-8D7B4BB17DB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9176406" y="3835311"/>
              <a:ext cx="123362" cy="5928176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72646917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EDB0B7-B9F5-EF9C-DDC6-A7A93DD56A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What Can Be Done?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8285FC-2CDE-2AC4-1B89-04E07FB5CF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1800" b="1" dirty="0"/>
              <a:t>1.  Replicate the Florida success model across other stores</a:t>
            </a:r>
          </a:p>
          <a:p>
            <a:pPr marL="0" indent="0">
              <a:buNone/>
            </a:pPr>
            <a:r>
              <a:rPr lang="en-US" sz="1300" dirty="0">
                <a:solidFill>
                  <a:schemeClr val="tx2"/>
                </a:solidFill>
              </a:rPr>
              <a:t>Miami (724) and Tallahassee (728) outperform the other 9 stores. Customer profile, product mix and operational practices should be studied and transferred to other locations.</a:t>
            </a:r>
          </a:p>
          <a:p>
            <a:pPr marL="0" indent="0">
              <a:buNone/>
            </a:pPr>
            <a:endParaRPr lang="en-US" sz="800"/>
          </a:p>
          <a:p>
            <a:pPr marL="0" indent="0">
              <a:buNone/>
            </a:pPr>
            <a:r>
              <a:rPr lang="en-US" sz="1800" b="1" dirty="0"/>
              <a:t>2.  Expand the rewards program</a:t>
            </a:r>
          </a:p>
          <a:p>
            <a:pPr marL="0" indent="0">
              <a:buNone/>
            </a:pPr>
            <a:r>
              <a:rPr lang="en-US" sz="1300" dirty="0">
                <a:solidFill>
                  <a:schemeClr val="tx2"/>
                </a:solidFill>
              </a:rPr>
              <a:t>Only 10.6% of transactions come from rewards customers. Checkout sign-up incentives, welcome discounts and an SMS opt-in campaign can push this into double digits.</a:t>
            </a:r>
          </a:p>
          <a:p>
            <a:pPr marL="0" indent="0">
              <a:buNone/>
            </a:pPr>
            <a:endParaRPr lang="en-US" sz="800"/>
          </a:p>
          <a:p>
            <a:pPr marL="0" indent="0">
              <a:buNone/>
            </a:pPr>
            <a:r>
              <a:rPr lang="en-US" sz="1800" b="1" dirty="0"/>
              <a:t>3.  Diversify the category portfolio</a:t>
            </a:r>
          </a:p>
          <a:p>
            <a:pPr marL="0" indent="0">
              <a:buNone/>
            </a:pPr>
            <a:r>
              <a:rPr lang="en-US" sz="1300" dirty="0">
                <a:solidFill>
                  <a:schemeClr val="tx2"/>
                </a:solidFill>
              </a:rPr>
              <a:t>88% of revenue comes from just 2 categories (Technology + Textbooks) — concentration risk. Cross-sell campaigns in art supplies and apparel can reduce dependency.</a:t>
            </a:r>
          </a:p>
          <a:p>
            <a:pPr marL="0" indent="0">
              <a:buNone/>
            </a:pPr>
            <a:endParaRPr lang="en-US" sz="800"/>
          </a:p>
          <a:p>
            <a:pPr marL="0" indent="0">
              <a:buNone/>
            </a:pPr>
            <a:r>
              <a:rPr lang="en-US" sz="1800" b="1" dirty="0"/>
              <a:t>4.  Analyze the source of the 2025 momentum</a:t>
            </a:r>
          </a:p>
          <a:p>
            <a:pPr marL="0" indent="0">
              <a:buNone/>
            </a:pPr>
            <a:r>
              <a:rPr lang="en-US" sz="1300" dirty="0">
                <a:solidFill>
                  <a:schemeClr val="tx2"/>
                </a:solidFill>
              </a:rPr>
              <a:t>The trigger behind the sharp rise starting late 2024 should be identified (new product, price change, campaign). If the cause is repeatable, 2026 growth can be secured.</a:t>
            </a:r>
          </a:p>
        </p:txBody>
      </p:sp>
    </p:spTree>
    <p:extLst>
      <p:ext uri="{BB962C8B-B14F-4D97-AF65-F5344CB8AC3E}">
        <p14:creationId xmlns:p14="http://schemas.microsoft.com/office/powerpoint/2010/main" val="190170084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61</TotalTime>
  <Words>1030</Words>
  <Application>Microsoft Macintosh PowerPoint</Application>
  <PresentationFormat>Widescreen</PresentationFormat>
  <Paragraphs>85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Aptos</vt:lpstr>
      <vt:lpstr>Aptos Display</vt:lpstr>
      <vt:lpstr>Arial</vt:lpstr>
      <vt:lpstr>Office Theme</vt:lpstr>
      <vt:lpstr>Lana Ilana Territory Sales Performance Analysis</vt:lpstr>
      <vt:lpstr>2022/01 – 2025/12 Total Revenue</vt:lpstr>
      <vt:lpstr>Yearly Growth Momentum</vt:lpstr>
      <vt:lpstr>Store Comparison</vt:lpstr>
      <vt:lpstr>Top Customers</vt:lpstr>
      <vt:lpstr>Category Breakdown</vt:lpstr>
      <vt:lpstr>What Can Be Done?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Fuat Berk Başlar</dc:creator>
  <cp:lastModifiedBy>Fuat Berk Başlar</cp:lastModifiedBy>
  <cp:revision>2</cp:revision>
  <dcterms:created xsi:type="dcterms:W3CDTF">2026-05-28T16:01:09Z</dcterms:created>
  <dcterms:modified xsi:type="dcterms:W3CDTF">2026-05-29T14:57:10Z</dcterms:modified>
</cp:coreProperties>
</file>