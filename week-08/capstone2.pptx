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9"/>
    <p:restoredTop sz="94645"/>
  </p:normalViewPr>
  <p:slideViewPr>
    <p:cSldViewPr snapToGrid="0">
      <p:cViewPr>
        <p:scale>
          <a:sx n="110" d="100"/>
          <a:sy n="110" d="100"/>
        </p:scale>
        <p:origin x="1248" y="1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BC7B8-8165-22D4-AE1E-77A6A805EB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4775B7-E716-0151-27AC-DAF55E613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D704A-9BED-1C66-B292-72A99209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9AB1A-37E9-6F2B-8D56-842A64744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B79FF-1512-7FB6-849B-B1359BC6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04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7A6AA-9DD0-CB16-6F4D-665A9EFE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7BEE1-6CCA-7BA5-6CC1-6DBFFDD2B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D4D1A-FFE8-5F3D-088C-264AFB509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685C33-D133-D972-1AEC-652D13E60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E4F00-D3F9-C836-A7FB-0B85B1454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26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4E50-7A7B-9B70-6D35-7D5B72F72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CCAFF-A798-DAE9-FE89-1F1CF456E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501ED-CAB1-BBFC-A40D-8C1464857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82FE7-1AE3-91B1-1CE9-98BF8B77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2B7B-ABE9-1333-00F2-623F68C65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9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78E61-E8AE-1FA9-D831-9D048093B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5A378-1778-6777-EBC1-6DAD81A092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DAFDE-9394-DBE0-AA52-60243DC71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60DBD-7257-38C2-7EA1-93891C3DA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D82806-5D7F-5780-E86D-FDEF65B69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37EC3-71FB-07FA-6D55-9EA2DBD5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32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2088-063B-8DFD-2535-66AB9FAB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1B54B-2A69-C3C1-0267-C6DDD9BB2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B4B00B-3A32-1D2E-F3A6-E7637C01C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A0117D-6159-DFE3-CE45-E8DE958378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B7AFE7-3FAD-C5D8-AEE5-26480501B6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983545-041B-D16D-C769-6A98726F1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B34387-6587-86EF-FC22-2396067F6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5554C-27F0-B773-8E92-3420F1E02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2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B8D86-77D8-456E-D342-94192B834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A49532-C435-294E-F753-50D6F1A4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B54D01-3D77-8466-8A41-24B4DBC2B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76E0F6-68F9-B5A2-2AAF-CF92776D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188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1B8BFB-91AE-102D-1880-05302EAE6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33883B-64D4-B402-8D73-C57E42C0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F6D16-1CD3-2BFF-439E-66422FD8C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126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F897-1C01-0099-BE2E-0FB1CCC8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200C-68BA-0FA4-4776-2FD2F6208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A120A0-772A-A393-3414-8C7C76DC9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44463-64FA-F847-50D8-C466D8FAE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3FCF6F-DDA0-C35B-10CE-00F4159C0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31485-0ADB-15C7-B000-932F58CF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006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41256-BC82-1793-9B4E-8E7E66270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4E2B02-5B3E-4465-994C-9F8779D9B1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521A49-1105-AFFB-356B-C0752A838C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FC453-758C-BB75-FCC9-1F8139FBC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29511-17C6-C184-D32C-F73848479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3CBDCC-7EBB-37CD-0D74-F161F39B9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5988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AFFE5-4F26-CA42-78C8-E78B99EF8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083961-854E-0066-BC2D-8E3E92FEB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8F687-2020-8876-42E8-BB61C6B93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AE031-079F-AB4F-67F5-7957F87E0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9FE19-338B-428C-2BDD-742489659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7494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CE6E2B-33E8-EA2C-BF74-F1A17C3EC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4B98BA-AD19-5F67-FBB3-761E6DBA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5F378-779A-100F-5C89-8DA94DB6D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77C30-93EA-086D-F2F5-61327991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04B8D-018B-61C4-54AF-FD5385385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5487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D10787-1A4C-660D-164F-BDEC2F64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6F086D-0E0B-108E-0512-BA2D984F2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E1EEF-3046-3F5A-ECE9-8464A59CF5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21D6BF-BB2C-2144-89D8-3B9FE0DB500A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0A914-5854-6502-BD0D-B870E4EE40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245D0-61F2-B792-CA93-DAF30F486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71F8D2-FA3E-AF42-A60B-40679A016C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4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1FA0-B6AD-D654-8386-D3AFC8577C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Lana Ilana Territory</a:t>
            </a:r>
            <a:br>
              <a:rPr lang="en-US" b="1" dirty="0"/>
            </a:br>
            <a:r>
              <a:rPr lang="en-US" b="1" dirty="0"/>
              <a:t>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72DF18-2D19-B8A3-FDBB-7A8EFD6FE4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January 2022 – December 2025  |  4-Year Revenue, Store and Customer Review</a:t>
            </a:r>
          </a:p>
        </p:txBody>
      </p:sp>
    </p:spTree>
    <p:extLst>
      <p:ext uri="{BB962C8B-B14F-4D97-AF65-F5344CB8AC3E}">
        <p14:creationId xmlns:p14="http://schemas.microsoft.com/office/powerpoint/2010/main" val="33110614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56FC5-1586-699F-6F6B-A94B1A7B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pPr algn="ctr"/>
            <a:r>
              <a:rPr lang="en-US" sz="3200" dirty="0"/>
              <a:t>2022/01 – 2025/12</a:t>
            </a:r>
            <a:br>
              <a:rPr lang="en-US" sz="3200" dirty="0"/>
            </a:br>
            <a:r>
              <a:rPr lang="en-US" sz="3200" dirty="0"/>
              <a:t>Total Revenue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6D7975D-08FF-BFDE-2E4E-BC38FC19B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455821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Overview</a:t>
            </a:r>
          </a:p>
          <a:p>
            <a:pPr marL="0" indent="0">
              <a:buNone/>
            </a:pPr>
            <a:r>
              <a:rPr lang="en-US" sz="3200" b="1" dirty="0">
                <a:solidFill>
                  <a:schemeClr val="tx1"/>
                </a:solidFill>
              </a:rPr>
              <a:t>$3.93M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total revenue over 4 years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600" b="1" dirty="0"/>
              <a:t>+150% growth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2022: $598K  →  2025: $1.50M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600" b="1" dirty="0"/>
              <a:t>Peak: October 2025</a:t>
            </a:r>
          </a:p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$188K in a single month — all-time record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3E4141-D555-8472-E6FF-BBFBF78F5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407" y="1248025"/>
            <a:ext cx="7300337" cy="436195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3613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5C9F5-D876-5EA5-23D7-8630620A6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04800"/>
            <a:ext cx="11277600" cy="600000"/>
          </a:xfrm>
        </p:spPr>
        <p:txBody>
          <a:bodyPr anchor="ctr"/>
          <a:lstStyle/>
          <a:p>
            <a:pPr algn="l"/>
            <a:r>
              <a:rPr lang="en-US" sz="2400" b="1" dirty="0"/>
              <a:t>Yearly Growth Momentum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77139D-1B89-24A0-18EC-94E058346D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050000"/>
            <a:ext cx="8000000" cy="5500000"/>
          </a:xfrm>
          <a:prstGeom prst="rect">
            <a:avLst/>
          </a:prstGeom>
        </p:spPr>
      </p:pic>
      <p:sp>
        <p:nvSpPr>
          <p:cNvPr id="100" name="YearlyBreakdown"/>
          <p:cNvSpPr txBox="1"/>
          <p:nvPr/>
        </p:nvSpPr>
        <p:spPr>
          <a:xfrm>
            <a:off x="8500000" y="1050000"/>
            <a:ext cx="3400000" cy="55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Annual Revenue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400" b="1" dirty="0"/>
              <a:t>2022</a:t>
            </a:r>
            <a:r>
              <a:rPr lang="en-US" sz="1400" dirty="0">
                <a:solidFill>
                  <a:schemeClr val="tx2"/>
                </a:solidFill>
              </a:rPr>
              <a:t xml:space="preserve">     $598K</a:t>
            </a:r>
          </a:p>
          <a:p>
            <a:pPr marL="0" indent="0">
              <a:buNone/>
            </a:pPr>
            <a:r>
              <a:rPr lang="en-US" sz="1400" b="1" dirty="0"/>
              <a:t>2023</a:t>
            </a:r>
            <a:r>
              <a:rPr lang="en-US" sz="1400" dirty="0">
                <a:solidFill>
                  <a:schemeClr val="tx2"/>
                </a:solidFill>
              </a:rPr>
              <a:t xml:space="preserve">     $917K   </a:t>
            </a:r>
            <a:r>
              <a:rPr lang="en-US" sz="1100" b="1" dirty="0">
                <a:solidFill>
                  <a:srgbClr val="2C5F2D"/>
                </a:solidFill>
              </a:rPr>
              <a:t>+%53</a:t>
            </a:r>
          </a:p>
          <a:p>
            <a:pPr marL="0" indent="0">
              <a:buNone/>
            </a:pPr>
            <a:r>
              <a:rPr lang="en-US" sz="1400" b="1" dirty="0"/>
              <a:t>2024</a:t>
            </a:r>
            <a:r>
              <a:rPr lang="en-US" sz="1400" dirty="0">
                <a:solidFill>
                  <a:schemeClr val="tx2"/>
                </a:solidFill>
              </a:rPr>
              <a:t xml:space="preserve">     $920K   </a:t>
            </a:r>
            <a:r>
              <a:rPr lang="en-US" sz="1100" b="1" dirty="0">
                <a:solidFill>
                  <a:srgbClr val="999999"/>
                </a:solidFill>
              </a:rPr>
              <a:t>+%0</a:t>
            </a:r>
          </a:p>
          <a:p>
            <a:pPr marL="0" indent="0">
              <a:buNone/>
            </a:pPr>
            <a:r>
              <a:rPr lang="en-US" sz="1400" b="1" dirty="0"/>
              <a:t>2025</a:t>
            </a:r>
            <a:r>
              <a:rPr lang="en-US" sz="1400" dirty="0">
                <a:solidFill>
                  <a:schemeClr val="tx2"/>
                </a:solidFill>
              </a:rPr>
              <a:t xml:space="preserve">   $1.50M   </a:t>
            </a:r>
            <a:r>
              <a:rPr lang="en-US" sz="1100" b="1" dirty="0">
                <a:solidFill>
                  <a:srgbClr val="2C5F2D"/>
                </a:solidFill>
              </a:rPr>
              <a:t>+%63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Highlights</a:t>
            </a:r>
          </a:p>
          <a:p>
            <a:pPr marL="0" indent="0">
              <a:buNone/>
            </a:pPr>
            <a:endParaRPr lang="en-US" sz="400"/>
          </a:p>
          <a:p>
            <a:pPr marL="0" indent="0">
              <a:buNone/>
            </a:pPr>
            <a:r>
              <a:rPr lang="en-US" sz="1100" dirty="0"/>
              <a:t>First major jump between 2022–2023</a:t>
            </a:r>
          </a:p>
          <a:p>
            <a:pPr marL="0" indent="0">
              <a:buNone/>
            </a:pPr>
            <a:endParaRPr lang="en-US" sz="400"/>
          </a:p>
          <a:p>
            <a:pPr marL="0" indent="0">
              <a:buNone/>
            </a:pPr>
            <a:r>
              <a:rPr lang="en-US" sz="1100" dirty="0"/>
              <a:t>Plateau in 2024 — growth stalled</a:t>
            </a:r>
          </a:p>
          <a:p>
            <a:pPr marL="0" indent="0">
              <a:buNone/>
            </a:pPr>
            <a:endParaRPr lang="en-US" sz="400"/>
          </a:p>
          <a:p>
            <a:pPr marL="0" indent="0">
              <a:buNone/>
            </a:pPr>
            <a:r>
              <a:rPr lang="en-US" sz="1100" dirty="0"/>
              <a:t>Sharp rise from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347381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60437-41FF-2E2D-5E30-747152639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3" y="741391"/>
            <a:ext cx="3397017" cy="1616203"/>
          </a:xfrm>
        </p:spPr>
        <p:txBody>
          <a:bodyPr anchor="b">
            <a:normAutofit/>
          </a:bodyPr>
          <a:lstStyle/>
          <a:p>
            <a:r>
              <a:rPr lang="en-US" sz="2800" b="1" dirty="0"/>
              <a:t>Store Comparison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483C60-8087-2D02-E7CF-293DE9CE78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11" r="13881" b="1"/>
          <a:stretch>
            <a:fillRect/>
          </a:stretch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Content Placeholder 7">
            <a:extLst>
              <a:ext uri="{FF2B5EF4-FFF2-40B4-BE49-F238E27FC236}">
                <a16:creationId xmlns:a16="http://schemas.microsoft.com/office/drawing/2014/main" id="{9EE9C144-8E84-E3EF-AFBF-7ADAEB86C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4" y="2533476"/>
            <a:ext cx="3405415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b="1" dirty="0"/>
              <a:t>30%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of territory revenue comes from only 2 stores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400" b="1" dirty="0"/>
              <a:t>#1  Store 724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Miami, FL  —  $619K</a:t>
            </a:r>
          </a:p>
          <a:p>
            <a:pPr marL="0" indent="0">
              <a:buNone/>
            </a:pPr>
            <a:endParaRPr lang="en-US" sz="400"/>
          </a:p>
          <a:p>
            <a:pPr marL="0" indent="0">
              <a:buNone/>
            </a:pPr>
            <a:r>
              <a:rPr lang="en-US" sz="1400" b="1" dirty="0"/>
              <a:t>#2  Store 728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Tallahassee, FL  —  $542K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Florida stores outperform the other 9 locations.</a:t>
            </a:r>
          </a:p>
        </p:txBody>
      </p:sp>
    </p:spTree>
    <p:extLst>
      <p:ext uri="{BB962C8B-B14F-4D97-AF65-F5344CB8AC3E}">
        <p14:creationId xmlns:p14="http://schemas.microsoft.com/office/powerpoint/2010/main" val="3668614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5A54-76CD-9E50-BB6B-8D3A40F3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4" y="741391"/>
            <a:ext cx="3549649" cy="1616203"/>
          </a:xfrm>
        </p:spPr>
        <p:txBody>
          <a:bodyPr anchor="b">
            <a:normAutofit/>
          </a:bodyPr>
          <a:lstStyle/>
          <a:p>
            <a:r>
              <a:rPr lang="en-US" sz="2800" b="1" dirty="0"/>
              <a:t>Top Customers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D841CC-D513-7707-D22E-C5F6FE2BE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3346964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b="1" dirty="0"/>
              <a:t>5x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Top 5 customers spend 5x more than the average rewards customer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400" b="1" dirty="0"/>
              <a:t>$4,217</a:t>
            </a:r>
            <a:r>
              <a:rPr lang="en-US" sz="1100" dirty="0">
                <a:solidFill>
                  <a:schemeClr val="tx2"/>
                </a:solidFill>
              </a:rPr>
              <a:t xml:space="preserve">   avg. spend of top 5</a:t>
            </a:r>
          </a:p>
          <a:p>
            <a:pPr marL="0" indent="0">
              <a:buNone/>
            </a:pPr>
            <a:r>
              <a:rPr lang="en-US" sz="1400" b="1" dirty="0"/>
              <a:t>$844</a:t>
            </a:r>
            <a:r>
              <a:rPr lang="en-US" sz="1100" dirty="0">
                <a:solidFill>
                  <a:schemeClr val="tx2"/>
                </a:solidFill>
              </a:rPr>
              <a:t xml:space="preserve">     overall rewards customer average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400" b="1" dirty="0"/>
              <a:t>10.6%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of transactions use the rewards program — major growth potential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06A001-E085-E0C3-025A-66780F2DB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770" r="12506" b="1"/>
          <a:stretch>
            <a:fillRect/>
          </a:stretch>
        </p:blipFill>
        <p:spPr>
          <a:xfrm>
            <a:off x="5089243" y="877413"/>
            <a:ext cx="6222628" cy="5043096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FCAD34-1AFC-BC1A-F6B2-C34C63912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089243" y="5858828"/>
            <a:ext cx="6226463" cy="123363"/>
            <a:chOff x="7015162" y="5858828"/>
            <a:chExt cx="4300544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129F4A2-3705-CF87-3DDA-AF9CE9389B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1B1028-FC76-5583-3A1F-5815A7DCF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2745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79214-E876-FF98-175F-F1383EB6C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r>
              <a:rPr lang="en-US" sz="2800" b="1" dirty="0"/>
              <a:t>Category Breakdown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BC0A21A-F0CC-F4B0-AD98-26A63A19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90" y="319861"/>
            <a:ext cx="6794339" cy="6441601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30F26B1-EDBB-3880-5DCC-AA743C306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800" b="1" dirty="0"/>
              <a:t>88%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of revenue comes only from Technology and Textbooks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300" b="1" dirty="0"/>
              <a:t>Technology &amp; Accessories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62.7% — dominant category</a:t>
            </a:r>
          </a:p>
          <a:p>
            <a:pPr marL="0" indent="0">
              <a:buNone/>
            </a:pPr>
            <a:endParaRPr lang="en-US" sz="400"/>
          </a:p>
          <a:p>
            <a:pPr marL="0" indent="0">
              <a:buNone/>
            </a:pPr>
            <a:r>
              <a:rPr lang="en-US" sz="1300" b="1" dirty="0"/>
              <a:t>Textbooks</a:t>
            </a:r>
          </a:p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25.2% — second largest share</a:t>
            </a:r>
          </a:p>
          <a:p>
            <a:pPr marL="0" indent="0">
              <a:buNone/>
            </a:pPr>
            <a:endParaRPr lang="en-US" sz="600"/>
          </a:p>
          <a:p>
            <a:pPr marL="0" indent="0">
              <a:buNone/>
            </a:pPr>
            <a:r>
              <a:rPr lang="en-US" sz="1100" i="1" dirty="0">
                <a:solidFill>
                  <a:schemeClr val="tx2"/>
                </a:solidFill>
              </a:rPr>
              <a:t>Other 3 categories together only 12% — portfolio is too narrow.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726469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DB0B7-B9F5-EF9C-DDC6-A7A93DD56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Can Be Done?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285FC-2CDE-2AC4-1B89-04E07FB5CF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1.  Replicate the Florida success model across other stores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Miami (724) and Tallahassee (728) outperform the other 9 stores. Customer profile, product mix and operational practices should be studied and transferred to other locations.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800" b="1" dirty="0"/>
              <a:t>2.  Expand the rewards program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Only 10.6% of transactions come from rewards customers. Checkout sign-up incentives, welcome discounts and an SMS opt-in campaign can push this into double digits.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800" b="1" dirty="0"/>
              <a:t>3.  Diversify the category portfolio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88% of revenue comes from just 2 categories (Technology + Textbooks) — concentration risk. Cross-sell campaigns in art supplies and apparel can reduce dependency.</a:t>
            </a:r>
          </a:p>
          <a:p>
            <a:pPr marL="0" indent="0">
              <a:buNone/>
            </a:pPr>
            <a:endParaRPr lang="en-US" sz="800"/>
          </a:p>
          <a:p>
            <a:pPr marL="0" indent="0">
              <a:buNone/>
            </a:pPr>
            <a:r>
              <a:rPr lang="en-US" sz="1800" b="1" dirty="0"/>
              <a:t>4.  Analyze the source of the 2025 momentum</a:t>
            </a:r>
          </a:p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The trigger behind the sharp rise starting late 2024 should be identified (new product, price change, campaign). If the cause is repeatable, 2026 growth can be secured.</a:t>
            </a:r>
          </a:p>
        </p:txBody>
      </p:sp>
    </p:spTree>
    <p:extLst>
      <p:ext uri="{BB962C8B-B14F-4D97-AF65-F5344CB8AC3E}">
        <p14:creationId xmlns:p14="http://schemas.microsoft.com/office/powerpoint/2010/main" val="19017008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6</Words>
  <Application>Microsoft Macintosh PowerPoint</Application>
  <PresentationFormat>Widescreen</PresentationFormat>
  <Paragraphs>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2022/01 – 2025/12 Total Revenue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Fuat Berk Başlar</dc:creator>
  <cp:lastModifiedBy>Fuat Berk Başlar</cp:lastModifiedBy>
  <cp:revision>1</cp:revision>
  <dcterms:created xsi:type="dcterms:W3CDTF">2026-05-28T16:01:09Z</dcterms:created>
  <dcterms:modified xsi:type="dcterms:W3CDTF">2026-05-28T16:29:04Z</dcterms:modified>
</cp:coreProperties>
</file>